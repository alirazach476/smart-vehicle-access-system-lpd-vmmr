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65" r:id="rId21"/>
    <p:sldId id="266" r:id="rId22"/>
    <p:sldId id="267" r:id="rId23"/>
    <p:sldId id="281" r:id="rId24"/>
    <p:sldId id="290" r:id="rId25"/>
    <p:sldId id="286" r:id="rId26"/>
    <p:sldId id="287" r:id="rId27"/>
    <p:sldId id="289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0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4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7D170-116F-F22A-1B92-3EF3F1F9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3A3BC-4A27-16B5-6FAC-94DC38D2A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76D35-DE42-C5A9-561C-C936D5A8C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BE562-8D47-0D65-1EA7-277D86B768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087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457200"/>
            <a:ext cx="3200400" cy="320040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166860" y="22860"/>
            <a:ext cx="2240280" cy="224028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-502920" y="4983480"/>
            <a:ext cx="1920240" cy="19202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10058400" y="5029200"/>
            <a:ext cx="2286000" cy="22860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10401300" y="5372100"/>
            <a:ext cx="1600200" cy="16002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0" y="3017520"/>
            <a:ext cx="7315200" cy="2743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ALL-WEATHER SMART VEHICLE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Gate Recognition System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822960" y="2651760"/>
            <a:ext cx="4114800" cy="36576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82296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82296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274320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66344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Pi 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58368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850392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657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Deep Learning Pipeline for Vehicle Make/Model Recognition,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Detection &amp; Character Recognition Under Adverse Weather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0100" y="4460443"/>
            <a:ext cx="4472448" cy="2016252"/>
          </a:xfrm>
          <a:prstGeom prst="roundRect">
            <a:avLst>
              <a:gd name="adj" fmla="val 7143"/>
            </a:avLst>
          </a:prstGeom>
          <a:solidFill>
            <a:srgbClr val="162536"/>
          </a:solidFill>
          <a:ln w="19050">
            <a:solidFill>
              <a:srgbClr val="2A4A6B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1920240" y="4572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4400" y="5349240"/>
            <a:ext cx="5280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ea typeface="Inconsolata" pitchFamily="1" charset="0"/>
              </a:rPr>
              <a:t>ABDUL HADI               (FA22-BCE-018)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ea typeface="Inconsolata" pitchFamily="1" charset="0"/>
              </a:rPr>
              <a:t>Ali Raza Chaudhry        (FA22-BCE-102)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ea typeface="Inconsolata" pitchFamily="1" charset="0"/>
              </a:rPr>
              <a:t>Abdullah Yaseen          (FA22-BCE-065)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772400" y="521208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7772400" y="51663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ea typeface="Inconsolata" pitchFamily="1" charset="0"/>
                <a:cs typeface="Times New Roman" pitchFamily="18" charset="0"/>
              </a:rPr>
              <a:t>Supervisor: Dr. Taimoor Naeem</a:t>
            </a:r>
          </a:p>
        </p:txBody>
      </p:sp>
      <p:sp>
        <p:nvSpPr>
          <p:cNvPr id="31" name="Text 2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34</a:t>
            </a:r>
            <a:endParaRPr lang="en-US" sz="800" dirty="0"/>
          </a:p>
        </p:txBody>
      </p:sp>
      <p:pic>
        <p:nvPicPr>
          <p:cNvPr id="32" name="Image 118" descr="P1086#yIS1">
            <a:extLst>
              <a:ext uri="{FF2B5EF4-FFF2-40B4-BE49-F238E27FC236}">
                <a16:creationId xmlns:a16="http://schemas.microsoft.com/office/drawing/2014/main" id="{17FAAB23-8A8C-5076-9664-EBA8A2AB398F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66860" y="252565"/>
            <a:ext cx="2352583" cy="2126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key challenges in vehicle identification at gates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00" y="4114800"/>
            <a:ext cx="2743200" cy="27432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9555480" y="4526280"/>
            <a:ext cx="1920240" cy="19202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" y="141732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640080" y="155448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40080" y="155448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15270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vehicle identification at gates is slow, error-prone, and impractical at scale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258568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640080" y="2395728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640080" y="239572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236829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weather (fog, rain) severely degrades image quality — AI models fail on unprocessed images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099816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640080" y="3236976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640080" y="323697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320954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address only one aspect (plate detection only), not complete vehicle identification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941064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640080" y="4078224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640080" y="4078224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25880" y="40507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 license plates are non-standardized — varying sizes, fonts, colors — much harder than Turkish/Chinese/Nigerian plates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782312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640080" y="4919472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40080" y="491947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25880" y="4892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OCR (Google Vision AI) is costly and has privacy/latency concerns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562356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594360" y="5696712"/>
            <a:ext cx="3374136" cy="3200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640080" y="576072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640080" y="576072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25880" y="573328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integrates VMMR + ANPR + Weather Preprocessing + Dashboard + Edge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 and deliverables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601200" y="4572000"/>
            <a:ext cx="2286000" cy="22860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9944100" y="4914900"/>
            <a:ext cx="1600200" cy="1600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" y="1417320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15" name="Shape 13"/>
          <p:cNvSpPr/>
          <p:nvPr/>
        </p:nvSpPr>
        <p:spPr>
          <a:xfrm>
            <a:off x="640080" y="1527048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16" name="Text 14"/>
          <p:cNvSpPr/>
          <p:nvPr/>
        </p:nvSpPr>
        <p:spPr>
          <a:xfrm>
            <a:off x="640080" y="1527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1490472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Vehicle Make/Model Recognition (VMMR) system — 245 vehicle classes (Pakistani + JDM market)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167128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19" name="Shape 17"/>
          <p:cNvSpPr/>
          <p:nvPr/>
        </p:nvSpPr>
        <p:spPr>
          <a:xfrm>
            <a:off x="640080" y="227685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20" name="Text 18"/>
          <p:cNvSpPr/>
          <p:nvPr/>
        </p:nvSpPr>
        <p:spPr>
          <a:xfrm>
            <a:off x="640080" y="2276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2240280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License Plate Detection using YOLOv8 object detection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916936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23" name="Shape 21"/>
          <p:cNvSpPr/>
          <p:nvPr/>
        </p:nvSpPr>
        <p:spPr>
          <a:xfrm>
            <a:off x="640080" y="3026664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24" name="Text 22"/>
          <p:cNvSpPr/>
          <p:nvPr/>
        </p:nvSpPr>
        <p:spPr>
          <a:xfrm>
            <a:off x="640080" y="3026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2990088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Character Recognition module — 38 classes (0-9, A-Z) from detected plates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666744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27" name="Shape 25"/>
          <p:cNvSpPr/>
          <p:nvPr/>
        </p:nvSpPr>
        <p:spPr>
          <a:xfrm>
            <a:off x="640080" y="3776472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28" name="Text 26"/>
          <p:cNvSpPr/>
          <p:nvPr/>
        </p:nvSpPr>
        <p:spPr>
          <a:xfrm>
            <a:off x="640080" y="3776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3739896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weather-aware preprocessing for Fog Removal (DCP) and Rain Removal (Vertical Median Filter)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416552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31" name="Shape 29"/>
          <p:cNvSpPr/>
          <p:nvPr/>
        </p:nvSpPr>
        <p:spPr>
          <a:xfrm>
            <a:off x="640080" y="4526280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32" name="Text 30"/>
          <p:cNvSpPr/>
          <p:nvPr/>
        </p:nvSpPr>
        <p:spPr>
          <a:xfrm>
            <a:off x="640080" y="45262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34440" y="4489704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all modules into a unified end-to-end pipeline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5166360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35" name="Shape 33"/>
          <p:cNvSpPr/>
          <p:nvPr/>
        </p:nvSpPr>
        <p:spPr>
          <a:xfrm>
            <a:off x="640080" y="5276088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36" name="Text 34"/>
          <p:cNvSpPr/>
          <p:nvPr/>
        </p:nvSpPr>
        <p:spPr>
          <a:xfrm>
            <a:off x="640080" y="5276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34440" y="5239512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web-based dashboard for real-time access control and monitoring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5916168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9" name="Shape 37"/>
          <p:cNvSpPr/>
          <p:nvPr/>
        </p:nvSpPr>
        <p:spPr>
          <a:xfrm>
            <a:off x="640080" y="602589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40" name="Text 38"/>
          <p:cNvSpPr/>
          <p:nvPr/>
        </p:nvSpPr>
        <p:spPr>
          <a:xfrm>
            <a:off x="640080" y="60258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34440" y="5989320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on Orange Pi 5 (8GB) for edge deployment at gates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10 related works (Papers 1-5)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34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035571"/>
              </p:ext>
            </p:extLst>
          </p:nvPr>
        </p:nvGraphicFramePr>
        <p:xfrm>
          <a:off x="457200" y="1371600"/>
          <a:ext cx="11338560" cy="4828032"/>
        </p:xfrm>
        <a:graphic>
          <a:graphicData uri="http://schemas.openxmlformats.org/drawingml/2006/table">
            <a:tbl>
              <a:tblPr/>
              <a:tblGrid>
                <a:gridCol w="368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8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3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169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(Year)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&amp; LP Recognition for Toll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YOLOv5/v8/v11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 (nano 97-98%)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categories only, no make/model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for Pakistani Plates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YOLOv3, 200 imgs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small dataset, no VMMR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VMMR, ANPR, Color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MobileNetV2+EasyOCR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93.3%, VMMR 90.6%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EasyOCR fails on Pakistani fonts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 Under Diverse Env.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CNN+RPN, CCPD 290K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 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Chinese plates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Parking IoT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Vision AI+ESP32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Cloud-dependent, costly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(Continued)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10 related works (Papers 6-10)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34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365391"/>
              </p:ext>
            </p:extLst>
          </p:nvPr>
        </p:nvGraphicFramePr>
        <p:xfrm>
          <a:off x="457200" y="1371600"/>
          <a:ext cx="11247120" cy="3602736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0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(Year)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ALPR Using Image Processing (2023)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MATLAB segmentation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 97.5%, Char 94.17%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imgs, no VMMR, fails in 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for Smart Buildings (2024)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det.+YOLO, 37K font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 96%, OCR 95%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 dataset, not real plates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Car &amp; Plate (2024)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MobileNetV2+PaddleOCR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 all-weather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30 models, 1K imgs, no 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Using TensorFlow (2024)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TF+EasyOCR, 203 imgs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dataset, no VMMR, no 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YOLOv12+Tesseract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YOLOv12+Tesseract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96%, OCR 82%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Tesseract very poor, Turkish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516636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1C30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594360" y="5257800"/>
            <a:ext cx="45720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822960" y="5257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55778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combines VMMR + ANPR + Weather Preprocessing + Dashboard + Edge Deployment.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(93.3%) and Tesseract (82%) perform poorly on Pakistani plates.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Novelty vs. Literature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 with reviewed papers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34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141381"/>
              </p:ext>
            </p:extLst>
          </p:nvPr>
        </p:nvGraphicFramePr>
        <p:xfrm>
          <a:off x="525780" y="1417320"/>
          <a:ext cx="11247120" cy="43662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1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in Literature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 (Paper 1, toll)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 mAP@50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VMMR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models (Paper 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 make/model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VMMR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90.6% (Paper 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96.24% Top-1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EasyOCR 93.3% / Tesseract 82%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YOLOv8: 98.99% 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Scale (VMMR)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 images (Paper 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57,135 images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Handling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on weather data (Paper 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fog + rain preprocessing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Deployment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 Pi (Paper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 Pi 5 (8GB)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lookup only (Paper 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React+Express (auth, live feed, history)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1828800" y="5975604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1828800" y="597560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surpasses all 10 reviewed papers on every comparison metric.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the complete recognition 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640080" y="1645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2331720"/>
            <a:ext cx="1371600" cy="228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— 245 vehicle classes (Pakistani + JDM)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434840" y="1645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4348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34840" y="2331720"/>
            <a:ext cx="1371600" cy="228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434840" y="2468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— detects license plate region in images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8229600" y="1645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82296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Recognition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29600" y="2331720"/>
            <a:ext cx="1371600" cy="2286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8229600" y="2468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— 38 classes (0-9, A-Z) from plates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640080" y="4114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7160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4800600"/>
            <a:ext cx="1371600" cy="228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640080" y="49377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removal (DCP) + Rain removal (Vertical Median)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5196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4434840" y="4114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44348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6636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434840" y="4800600"/>
            <a:ext cx="1371600" cy="2286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4434840" y="49377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Express — Auth, Live Feed, History, Override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4672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8229600" y="4114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82296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96112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229600" y="4800600"/>
            <a:ext cx="1371600" cy="228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8229600" y="49377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Pi 5 (8GB) with gate camera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development approach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457200" y="1371600"/>
            <a:ext cx="54864" cy="6217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685800" y="1499616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141732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141732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245-class VMMR dataset (~57K imgs), 1,235-image OCR dataset (Roboflow), plate detection dataset (600+ annotated)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121408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57200" y="2121408"/>
            <a:ext cx="54864" cy="6217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685800" y="2249424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85800" y="2249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216712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216712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(transfer learning) for VMMR; YOLOv8n for plate detection &amp; character recognition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871216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457200" y="2871216"/>
            <a:ext cx="54864" cy="62179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685800" y="2999232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68580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291693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Design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2916936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Channel Prior for fog; Vertical Median Filter for rain — classical CV, no extra training needed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621024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457200" y="3621024"/>
            <a:ext cx="54864" cy="62179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685800" y="3749040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6858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4440" y="366674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Training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66160" y="3666744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trained/evaluated separately on held-out test sets on Google Colab (Tesla T4)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370832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457200" y="4370832"/>
            <a:ext cx="54864" cy="621792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685800" y="4498848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685800" y="4498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34440" y="441655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Integration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566160" y="441655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→ VMMR → Plate Detection → Char Recognition → Post-Processing (ABC-1234 format)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5120640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457200" y="5120640"/>
            <a:ext cx="54864" cy="62179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685800" y="5248656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685800" y="5248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234440" y="516636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566160" y="51663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tested on fog-degraded (10 images) and rain-degraded (8 images) — 100% success rate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5870448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457200" y="5870448"/>
            <a:ext cx="54864" cy="621792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Shape 48"/>
          <p:cNvSpPr/>
          <p:nvPr/>
        </p:nvSpPr>
        <p:spPr>
          <a:xfrm>
            <a:off x="685800" y="5998464"/>
            <a:ext cx="365760" cy="365760"/>
          </a:xfrm>
          <a:prstGeom prst="ellipse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685800" y="5998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234440" y="591616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Deploy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566160" y="591616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React+Express web app; planned Orange Pi 5 edge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processing flow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8DA0B5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228600" y="1554480"/>
            <a:ext cx="1234440" cy="36576"/>
          </a:xfrm>
          <a:prstGeom prst="rect">
            <a:avLst/>
          </a:prstGeom>
          <a:solidFill>
            <a:srgbClr val="8DA0B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274320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560320"/>
            <a:ext cx="685800" cy="22860"/>
          </a:xfrm>
          <a:prstGeom prst="rect">
            <a:avLst/>
          </a:prstGeom>
          <a:solidFill>
            <a:srgbClr val="8DA0B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274320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/ rain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1732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719072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1719072" y="1554480"/>
            <a:ext cx="1234440" cy="3657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1764792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93392" y="2560320"/>
            <a:ext cx="685800" cy="228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1764792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DCP / VMF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07792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209544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3209544" y="1554480"/>
            <a:ext cx="123444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255264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83864" y="2560320"/>
            <a:ext cx="685800" cy="228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3255264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EffNet-B4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98264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700016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4700016" y="1554480"/>
            <a:ext cx="123444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745736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74336" y="2560320"/>
            <a:ext cx="685800" cy="228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4745736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88736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190488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6190488" y="1554480"/>
            <a:ext cx="1234440" cy="3657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6236208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64808" y="2560320"/>
            <a:ext cx="685800" cy="2286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6236208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79208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680960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7680960" y="1554480"/>
            <a:ext cx="1234440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7726680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955280" y="2560320"/>
            <a:ext cx="685800" cy="2286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7726680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86968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171432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9171432" y="1554480"/>
            <a:ext cx="1234440" cy="36576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9217152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445752" y="2560320"/>
            <a:ext cx="685800" cy="228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2" name="Text 50"/>
          <p:cNvSpPr/>
          <p:nvPr/>
        </p:nvSpPr>
        <p:spPr>
          <a:xfrm>
            <a:off x="9217152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ABC-1234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360152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0661904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F0C75E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5" name="Shape 53"/>
          <p:cNvSpPr/>
          <p:nvPr/>
        </p:nvSpPr>
        <p:spPr>
          <a:xfrm>
            <a:off x="10661904" y="1554480"/>
            <a:ext cx="1234440" cy="36576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10707624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0936224" y="2560320"/>
            <a:ext cx="685800" cy="22860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8" name="Text 56"/>
          <p:cNvSpPr/>
          <p:nvPr/>
        </p:nvSpPr>
        <p:spPr>
          <a:xfrm>
            <a:off x="10707624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3840480"/>
            <a:ext cx="11247120" cy="2468880"/>
          </a:xfrm>
          <a:prstGeom prst="roundRect">
            <a:avLst>
              <a:gd name="adj" fmla="val 3704"/>
            </a:avLst>
          </a:prstGeom>
          <a:solidFill>
            <a:srgbClr val="1C30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0" name="Shape 58"/>
          <p:cNvSpPr/>
          <p:nvPr/>
        </p:nvSpPr>
        <p:spPr>
          <a:xfrm>
            <a:off x="594360" y="3931920"/>
            <a:ext cx="45720" cy="2194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1" name="Text 59"/>
          <p:cNvSpPr/>
          <p:nvPr/>
        </p:nvSpPr>
        <p:spPr>
          <a:xfrm>
            <a:off x="82296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END-TO-END FLOW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22960" y="4297680"/>
            <a:ext cx="9692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Foggy image of a car on a road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Removal (DCP): Clear, dehazed image produced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VMMR: "Toyota Corolla 2014-2016" (confidence: 95%)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Detection: Plate region localized with bounding box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Recognition: L, E, B, 5, 7, 0, 0 detected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Post-Processing: "LEB-5700" — Status: Allowed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Module — EfficientNet-B4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Make/Model Recognition across 245 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599"/>
            <a:ext cx="3566160" cy="2707509"/>
          </a:xfrm>
          <a:prstGeom prst="roundRect">
            <a:avLst>
              <a:gd name="adj" fmla="val 3704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1"/>
            <a:ext cx="1069848" cy="45719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2920" y="1463040"/>
            <a:ext cx="3291840" cy="300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029953"/>
              </p:ext>
            </p:extLst>
          </p:nvPr>
        </p:nvGraphicFramePr>
        <p:xfrm>
          <a:off x="457200" y="1783079"/>
          <a:ext cx="3383280" cy="1965453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7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31,904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17,254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~57,135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~6.4 GB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Shape 13"/>
          <p:cNvSpPr/>
          <p:nvPr/>
        </p:nvSpPr>
        <p:spPr>
          <a:xfrm>
            <a:off x="4160520" y="1371599"/>
            <a:ext cx="3749040" cy="2707509"/>
          </a:xfrm>
          <a:prstGeom prst="roundRect">
            <a:avLst>
              <a:gd name="adj" fmla="val 3704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4297680" y="1444751"/>
            <a:ext cx="1124712" cy="45719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4297680" y="1463040"/>
            <a:ext cx="3474720" cy="300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0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853377"/>
              </p:ext>
            </p:extLst>
          </p:nvPr>
        </p:nvGraphicFramePr>
        <p:xfrm>
          <a:off x="4251960" y="1783079"/>
          <a:ext cx="3566160" cy="1965453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7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(early stop, p=5)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 (1e-4 → 5e-5)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(smooth=0.1)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× 224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Tesla T4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8138160" y="1371599"/>
            <a:ext cx="3657600" cy="2707509"/>
          </a:xfrm>
          <a:prstGeom prst="roundRect">
            <a:avLst>
              <a:gd name="adj" fmla="val 3704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7"/>
          <p:cNvSpPr/>
          <p:nvPr/>
        </p:nvSpPr>
        <p:spPr>
          <a:xfrm>
            <a:off x="8275320" y="1444751"/>
            <a:ext cx="1097280" cy="45719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8"/>
          <p:cNvSpPr/>
          <p:nvPr/>
        </p:nvSpPr>
        <p:spPr>
          <a:xfrm>
            <a:off x="8275320" y="1463040"/>
            <a:ext cx="3383280" cy="300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0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018197"/>
              </p:ext>
            </p:extLst>
          </p:nvPr>
        </p:nvGraphicFramePr>
        <p:xfrm>
          <a:off x="8229600" y="1783079"/>
          <a:ext cx="3474720" cy="1965453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7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Top-5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Shape 19"/>
          <p:cNvSpPr/>
          <p:nvPr/>
        </p:nvSpPr>
        <p:spPr>
          <a:xfrm>
            <a:off x="365760" y="4115685"/>
            <a:ext cx="11430000" cy="411480"/>
          </a:xfrm>
          <a:prstGeom prst="roundRect">
            <a:avLst>
              <a:gd name="adj" fmla="val 22222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0"/>
          <p:cNvSpPr/>
          <p:nvPr/>
        </p:nvSpPr>
        <p:spPr>
          <a:xfrm>
            <a:off x="548640" y="4161405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EfficientNet-B4 (ImageNet) → Classifier: nn.Linear(1792, 245) + Dropout(0.4)  |  30+ brands with generation-level granularity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PROGRESSION</a:t>
            </a:r>
            <a:endParaRPr lang="en-US" sz="1000" dirty="0"/>
          </a:p>
        </p:txBody>
      </p:sp>
      <p:graphicFrame>
        <p:nvGraphicFramePr>
          <p:cNvPr id="6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735924"/>
              </p:ext>
            </p:extLst>
          </p:nvPr>
        </p:nvGraphicFramePr>
        <p:xfrm>
          <a:off x="457200" y="4937760"/>
          <a:ext cx="11247120" cy="1426465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2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5e-5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5e-5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5e-5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Results — Metrics &amp; Confusion Matrices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performance heatmap and class-level accuracy (part 1)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11612880" cy="1828800"/>
          </a:xfrm>
          <a:prstGeom prst="roundRect">
            <a:avLst>
              <a:gd name="adj" fmla="val 5000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5720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METRICS HEATMAP</a:t>
            </a:r>
            <a:endParaRPr lang="en-US" sz="1400" dirty="0"/>
          </a:p>
        </p:txBody>
      </p:sp>
      <p:pic>
        <p:nvPicPr>
          <p:cNvPr id="14" name="Image 0" descr="d:\\fyp\\FYP COMPLETE\\ppt_images\\vmm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10515600" cy="1371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274320" y="338328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457200" y="34290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CLASSES 0-49</a:t>
            </a:r>
            <a:endParaRPr lang="en-US" sz="1400" dirty="0"/>
          </a:p>
        </p:txBody>
      </p:sp>
      <p:pic>
        <p:nvPicPr>
          <p:cNvPr id="17" name="Image 1" descr="d:\\fyp\\FYP COMPLETE\\ppt_images\\cm_0_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03320"/>
            <a:ext cx="5303520" cy="27432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17920" y="338328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5"/>
          <p:cNvSpPr/>
          <p:nvPr/>
        </p:nvSpPr>
        <p:spPr>
          <a:xfrm>
            <a:off x="6400800" y="34290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CLASSES 50-99</a:t>
            </a:r>
            <a:endParaRPr lang="en-US" sz="1400" dirty="0"/>
          </a:p>
        </p:txBody>
      </p:sp>
      <p:pic>
        <p:nvPicPr>
          <p:cNvPr id="20" name="Image 2" descr="d:\\fyp\\FYP COMPLETE\\ppt_images\\cm_50_9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03320"/>
            <a:ext cx="53035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Results — Confusion Matrices (Continued)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accuracy across all 245 vehicle 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3749040" cy="3383280"/>
          </a:xfrm>
          <a:prstGeom prst="roundRect">
            <a:avLst>
              <a:gd name="adj" fmla="val 2703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57200" y="14173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100-149</a:t>
            </a:r>
            <a:endParaRPr lang="en-US" sz="1400" dirty="0"/>
          </a:p>
        </p:txBody>
      </p:sp>
      <p:pic>
        <p:nvPicPr>
          <p:cNvPr id="14" name="Image 0" descr="d:\\fyp\\FYP COMPLETE\\ppt_images\\cm_100_1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91640"/>
            <a:ext cx="3566160" cy="29260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206240" y="1371600"/>
            <a:ext cx="3749040" cy="3383280"/>
          </a:xfrm>
          <a:prstGeom prst="roundRect">
            <a:avLst>
              <a:gd name="adj" fmla="val 2703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4389120" y="14173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150-199</a:t>
            </a:r>
            <a:endParaRPr lang="en-US" sz="1400" dirty="0"/>
          </a:p>
        </p:txBody>
      </p:sp>
      <p:pic>
        <p:nvPicPr>
          <p:cNvPr id="17" name="Image 1" descr="d:\\fyp\\FYP COMPLETE\\ppt_images\\cm_150_1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91640"/>
            <a:ext cx="3566160" cy="292608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138160" y="1371600"/>
            <a:ext cx="3749040" cy="3383280"/>
          </a:xfrm>
          <a:prstGeom prst="roundRect">
            <a:avLst>
              <a:gd name="adj" fmla="val 2703"/>
            </a:avLst>
          </a:prstGeom>
          <a:solidFill>
            <a:srgbClr val="162536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5"/>
          <p:cNvSpPr/>
          <p:nvPr/>
        </p:nvSpPr>
        <p:spPr>
          <a:xfrm>
            <a:off x="8321040" y="14173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200-244</a:t>
            </a:r>
            <a:endParaRPr lang="en-US" sz="1400" dirty="0"/>
          </a:p>
        </p:txBody>
      </p:sp>
      <p:pic>
        <p:nvPicPr>
          <p:cNvPr id="20" name="Image 2" descr="d:\\fyp\\FYP COMPLETE\\ppt_images\\cm_200_24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691640"/>
            <a:ext cx="3566160" cy="29260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74320" y="5029200"/>
            <a:ext cx="11612880" cy="1188720"/>
          </a:xfrm>
          <a:prstGeom prst="roundRect">
            <a:avLst>
              <a:gd name="adj" fmla="val 7692"/>
            </a:avLst>
          </a:prstGeom>
          <a:solidFill>
            <a:srgbClr val="1C30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7"/>
          <p:cNvSpPr/>
          <p:nvPr/>
        </p:nvSpPr>
        <p:spPr>
          <a:xfrm>
            <a:off x="411480" y="5120640"/>
            <a:ext cx="45720" cy="9144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18"/>
          <p:cNvSpPr/>
          <p:nvPr/>
        </p:nvSpPr>
        <p:spPr>
          <a:xfrm>
            <a:off x="640080" y="5120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diagonal dominance across all 245 classes — model predictions are highly concentrated on correct classes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confusion observed between visually similar generations (e.g., Honda Civic 2000/2005, Toyota Corolla Indus/2009-2013)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96.24% Top-1 accuracy with near-zero off-diagonal values demonstrates excellent generalization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Results — Sample Predictions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test predictions with confidence scores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001268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114300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3" name="Image 0" descr="d:\\fyp\\FYP COMPLETE\\ppt_images\\pred_hust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2937718" cy="19069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74320" y="297180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365760" y="299008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Hustler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331012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365760" y="331012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87.04%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154680" y="114300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9" name="Image 1" descr="d:\\fyp\\FYP COMPLETE\\ppt_images\\pred_al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234440"/>
            <a:ext cx="2937718" cy="19069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246120" y="297180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7"/>
          <p:cNvSpPr/>
          <p:nvPr/>
        </p:nvSpPr>
        <p:spPr>
          <a:xfrm>
            <a:off x="3337560" y="299008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Alto 1st Gen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331012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19"/>
          <p:cNvSpPr/>
          <p:nvPr/>
        </p:nvSpPr>
        <p:spPr>
          <a:xfrm>
            <a:off x="3337560" y="331012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94.58%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126480" y="114300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5" name="Image 2" descr="d:\\fyp\\FYP COMPLETE\\ppt_images\\pred_alsv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234440"/>
            <a:ext cx="2937718" cy="190694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217920" y="297180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2"/>
          <p:cNvSpPr/>
          <p:nvPr/>
        </p:nvSpPr>
        <p:spPr>
          <a:xfrm>
            <a:off x="6309360" y="299008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Changan Alsvin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309360" y="331012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4"/>
          <p:cNvSpPr/>
          <p:nvPr/>
        </p:nvSpPr>
        <p:spPr>
          <a:xfrm>
            <a:off x="6309360" y="331012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72.94%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9098280" y="114300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31" name="Image 3" descr="d:\\fyp\\FYP COMPLETE\\ppt_images\\pred_mg_h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1234440"/>
            <a:ext cx="2937718" cy="190694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189720" y="297180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27"/>
          <p:cNvSpPr/>
          <p:nvPr/>
        </p:nvSpPr>
        <p:spPr>
          <a:xfrm>
            <a:off x="9281160" y="299008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HS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9281160" y="331012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29"/>
          <p:cNvSpPr/>
          <p:nvPr/>
        </p:nvSpPr>
        <p:spPr>
          <a:xfrm>
            <a:off x="9281160" y="331012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93.66%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82880" y="384048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37" name="Image 4" descr="d:\\fyp\\FYP COMPLETE\\ppt_images\\pred_xbe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3931920"/>
            <a:ext cx="2937718" cy="190694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274320" y="566928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2"/>
          <p:cNvSpPr/>
          <p:nvPr/>
        </p:nvSpPr>
        <p:spPr>
          <a:xfrm>
            <a:off x="365760" y="568756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Xbee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365760" y="600760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Text 34"/>
          <p:cNvSpPr/>
          <p:nvPr/>
        </p:nvSpPr>
        <p:spPr>
          <a:xfrm>
            <a:off x="365760" y="600760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93.01%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3154680" y="384048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43" name="Image 5" descr="d:\\fyp\\FYP COMPLETE\\ppt_images\\pred_swif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6120" y="3931920"/>
            <a:ext cx="2937718" cy="1906940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3246120" y="566928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5" name="Text 37"/>
          <p:cNvSpPr/>
          <p:nvPr/>
        </p:nvSpPr>
        <p:spPr>
          <a:xfrm>
            <a:off x="3337560" y="568756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Swift 1st Gen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3337560" y="600760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39"/>
          <p:cNvSpPr/>
          <p:nvPr/>
        </p:nvSpPr>
        <p:spPr>
          <a:xfrm>
            <a:off x="3337560" y="600760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87.63%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6126480" y="384048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49" name="Image 6" descr="d:\\fyp\\FYP COMPLETE\\ppt_images\\pred_fi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3931920"/>
            <a:ext cx="2937718" cy="1906940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6217920" y="566928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2"/>
          <p:cNvSpPr/>
          <p:nvPr/>
        </p:nvSpPr>
        <p:spPr>
          <a:xfrm>
            <a:off x="6309360" y="568756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Fit 3rd Gen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6309360" y="600760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3" name="Text 44"/>
          <p:cNvSpPr/>
          <p:nvPr/>
        </p:nvSpPr>
        <p:spPr>
          <a:xfrm>
            <a:off x="6309360" y="600760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93.91%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9098280" y="384048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55" name="Image 7" descr="d:\\fyp\\FYP COMPLETE\\ppt_images\\pred_no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9720" y="3931920"/>
            <a:ext cx="2937718" cy="1906940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9189720" y="566928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7" name="Text 47"/>
          <p:cNvSpPr/>
          <p:nvPr/>
        </p:nvSpPr>
        <p:spPr>
          <a:xfrm>
            <a:off x="9281160" y="568756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N One 2nd Gen</a:t>
            </a:r>
            <a:endParaRPr lang="en-US" sz="1000" dirty="0"/>
          </a:p>
        </p:txBody>
      </p:sp>
      <p:sp>
        <p:nvSpPr>
          <p:cNvPr id="58" name="Shape 48"/>
          <p:cNvSpPr/>
          <p:nvPr/>
        </p:nvSpPr>
        <p:spPr>
          <a:xfrm>
            <a:off x="9281160" y="600760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9" name="Text 49"/>
          <p:cNvSpPr/>
          <p:nvPr/>
        </p:nvSpPr>
        <p:spPr>
          <a:xfrm>
            <a:off x="9281160" y="600760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73.90%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Detection — YOLOv8n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Single-class plate detection module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150876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2920" y="1463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628804"/>
              </p:ext>
            </p:extLst>
          </p:nvPr>
        </p:nvGraphicFramePr>
        <p:xfrm>
          <a:off x="457200" y="1783080"/>
          <a:ext cx="4846320" cy="216713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5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 (Nano), pretrained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 × 380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/ Momentum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 / 0.937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02693" y="1354712"/>
            <a:ext cx="6314987" cy="2760088"/>
          </a:xfrm>
          <a:prstGeom prst="roundRect">
            <a:avLst>
              <a:gd name="adj" fmla="val 5556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5871808" y="1427864"/>
            <a:ext cx="1894496" cy="45719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748294" y="1446152"/>
            <a:ext cx="6032226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— EPOCH 50</a:t>
            </a:r>
            <a:endParaRPr lang="en-US" sz="14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061975"/>
              </p:ext>
            </p:extLst>
          </p:nvPr>
        </p:nvGraphicFramePr>
        <p:xfrm>
          <a:off x="5699760" y="1766192"/>
          <a:ext cx="6126480" cy="2001136"/>
        </p:xfrm>
        <a:graphic>
          <a:graphicData uri="http://schemas.openxmlformats.org/drawingml/2006/table">
            <a:tbl>
              <a:tblPr/>
              <a:tblGrid>
                <a:gridCol w="1413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6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2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2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2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2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Box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Cls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4572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PROGRESSION</a:t>
            </a:r>
            <a:endParaRPr lang="en-US" sz="1000" dirty="0"/>
          </a:p>
        </p:txBody>
      </p:sp>
      <p:graphicFrame>
        <p:nvGraphicFramePr>
          <p:cNvPr id="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462366"/>
              </p:ext>
            </p:extLst>
          </p:nvPr>
        </p:nvGraphicFramePr>
        <p:xfrm>
          <a:off x="457200" y="4617720"/>
          <a:ext cx="11247120" cy="185623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2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2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2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2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License Plate Detection — Result Visuals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heatmap and confusion matrix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11430000" cy="2194560"/>
          </a:xfrm>
          <a:prstGeom prst="roundRect">
            <a:avLst>
              <a:gd name="adj" fmla="val 4167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3429000" cy="3200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HEATMAP</a:t>
            </a:r>
            <a:endParaRPr lang="en-US" sz="1000" dirty="0"/>
          </a:p>
        </p:txBody>
      </p:sp>
      <p:pic>
        <p:nvPicPr>
          <p:cNvPr id="15" name="Image 0" descr="d:\fyp\FYP COMPLETE\ppt_images\yolo_lp_metric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10972800" cy="16459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65760" y="3840480"/>
            <a:ext cx="11430000" cy="2560320"/>
          </a:xfrm>
          <a:prstGeom prst="roundRect">
            <a:avLst>
              <a:gd name="adj" fmla="val 3571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502920" y="3913632"/>
            <a:ext cx="3429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48640" y="3931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00" dirty="0"/>
          </a:p>
        </p:txBody>
      </p:sp>
      <p:pic>
        <p:nvPicPr>
          <p:cNvPr id="19" name="Image 1" descr="d:\fyp\FYP COMPLETE\ppt_images\yolo_lp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781" y="3977640"/>
            <a:ext cx="5294181" cy="23225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License Plate Detection — Sample Outputs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detection examples from validation/inference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258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3" name="Image 0" descr="d:\fyp\FYP COMPLETE\ppt_images\yolo_lp_de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35608"/>
            <a:ext cx="3346704" cy="24323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206240" y="13258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5" name="Image 1" descr="d:\fyp\FYP COMPLETE\ppt_images\yolo_lp_de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435608"/>
            <a:ext cx="3346704" cy="243230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46720" y="13258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7" name="Image 2" descr="d:\fyp\FYP COMPLETE\ppt_images\yolo_lp_det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1435608"/>
            <a:ext cx="3346704" cy="243230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65760" y="41148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9" name="Image 3" descr="d:\fyp\FYP COMPLETE\ppt_images\yolo_lp_det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224528"/>
            <a:ext cx="3346704" cy="243230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06240" y="41148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1" name="Image 4" descr="d:\fyp\FYP COMPLETE\ppt_images\yolo_lp_det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968" y="4224528"/>
            <a:ext cx="3346704" cy="243230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046720" y="41148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3" name="Image 5" descr="d:\fyp\FYP COMPLETE\ppt_images\yolo_lp_det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6448" y="4224528"/>
            <a:ext cx="3346704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Recognition — YOLOv8n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38-class character detection on license plates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3566160" cy="2148840"/>
          </a:xfrm>
          <a:prstGeom prst="roundRect">
            <a:avLst>
              <a:gd name="adj" fmla="val 4762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1"/>
            <a:ext cx="1069848" cy="45719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2920" y="1463039"/>
            <a:ext cx="3291840" cy="306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673624"/>
              </p:ext>
            </p:extLst>
          </p:nvPr>
        </p:nvGraphicFramePr>
        <p:xfrm>
          <a:off x="457200" y="1783080"/>
          <a:ext cx="3383280" cy="14325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(0-9, A-Z, YY, 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 bbox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Img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× 512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160520" y="1371600"/>
            <a:ext cx="3200400" cy="2148840"/>
          </a:xfrm>
          <a:prstGeom prst="roundRect">
            <a:avLst>
              <a:gd name="adj" fmla="val 476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4297680" y="1444751"/>
            <a:ext cx="960120" cy="45719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4297680" y="1463039"/>
            <a:ext cx="3017520" cy="306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0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999526"/>
              </p:ext>
            </p:extLst>
          </p:nvPr>
        </p:nvGraphicFramePr>
        <p:xfrm>
          <a:off x="4251960" y="1783080"/>
          <a:ext cx="3017520" cy="14325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ImgSz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 × 640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Mosaic, FlipLR, HSV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589520" y="1371600"/>
            <a:ext cx="4206240" cy="2148840"/>
          </a:xfrm>
          <a:prstGeom prst="roundRect">
            <a:avLst>
              <a:gd name="adj" fmla="val 4762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7"/>
          <p:cNvSpPr/>
          <p:nvPr/>
        </p:nvSpPr>
        <p:spPr>
          <a:xfrm>
            <a:off x="7726680" y="1444751"/>
            <a:ext cx="1261872" cy="45719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8"/>
          <p:cNvSpPr/>
          <p:nvPr/>
        </p:nvSpPr>
        <p:spPr>
          <a:xfrm>
            <a:off x="7726680" y="1463039"/>
            <a:ext cx="3931920" cy="306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— EPOCH 100</a:t>
            </a:r>
            <a:endParaRPr lang="en-US" sz="1000" dirty="0"/>
          </a:p>
        </p:txBody>
      </p:sp>
      <p:graphicFrame>
        <p:nvGraphicFramePr>
          <p:cNvPr id="6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6541"/>
              </p:ext>
            </p:extLst>
          </p:nvPr>
        </p:nvGraphicFramePr>
        <p:xfrm>
          <a:off x="7680960" y="1783080"/>
          <a:ext cx="4023360" cy="1432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19"/>
          <p:cNvSpPr/>
          <p:nvPr/>
        </p:nvSpPr>
        <p:spPr>
          <a:xfrm>
            <a:off x="4572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PROGRESSION — DRAMATIC LEARNING CURVE</a:t>
            </a:r>
            <a:endParaRPr lang="en-US" sz="1000" dirty="0"/>
          </a:p>
        </p:txBody>
      </p:sp>
      <p:graphicFrame>
        <p:nvGraphicFramePr>
          <p:cNvPr id="8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34929"/>
              </p:ext>
            </p:extLst>
          </p:nvPr>
        </p:nvGraphicFramePr>
        <p:xfrm>
          <a:off x="457200" y="3840480"/>
          <a:ext cx="11247120" cy="19476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58.09%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71.37%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99.41% (peak)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Shape 20"/>
          <p:cNvSpPr/>
          <p:nvPr/>
        </p:nvSpPr>
        <p:spPr>
          <a:xfrm>
            <a:off x="365760" y="5897880"/>
            <a:ext cx="11430000" cy="548640"/>
          </a:xfrm>
          <a:prstGeom prst="roundRect">
            <a:avLst>
              <a:gd name="adj" fmla="val 16667"/>
            </a:avLst>
          </a:prstGeom>
          <a:solidFill>
            <a:srgbClr val="1C30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Text 2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Post-Processing: Characters sorted L→R by x-coord → split letters/digits → format ABC-1234  |  Example: Raw "LL09614" → Corrected "LL-0149"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Character YOLO — Result Visuals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metrics and confusion matrix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11430000" cy="2194560"/>
          </a:xfrm>
          <a:prstGeom prst="roundRect">
            <a:avLst>
              <a:gd name="adj" fmla="val 4167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3429000" cy="3200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VALIDATION METRICS</a:t>
            </a:r>
            <a:endParaRPr lang="en-US" sz="1000" dirty="0"/>
          </a:p>
        </p:txBody>
      </p:sp>
      <p:pic>
        <p:nvPicPr>
          <p:cNvPr id="15" name="Image 0" descr="d:\fyp\FYP COMPLETE\ppt_images\char_metric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10972800" cy="16459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65760" y="3840480"/>
            <a:ext cx="11430000" cy="2560320"/>
          </a:xfrm>
          <a:prstGeom prst="roundRect">
            <a:avLst>
              <a:gd name="adj" fmla="val 3571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502920" y="3913632"/>
            <a:ext cx="3429000" cy="32004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48640" y="39319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RECOGNITION CONFUSION MATRIX</a:t>
            </a:r>
            <a:endParaRPr lang="en-US" sz="1000" dirty="0"/>
          </a:p>
        </p:txBody>
      </p:sp>
      <p:pic>
        <p:nvPicPr>
          <p:cNvPr id="19" name="Image 1" descr="d:\fyp\FYP COMPLETE\ppt_images\char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077" y="3977640"/>
            <a:ext cx="4712110" cy="22997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Character YOLO — Sample Detections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Character-level detection outputs on license plates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94360" y="1444752"/>
            <a:ext cx="1645920" cy="3200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0" descr="d:\fyp\FYP COMPLETE\ppt_images\char_de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5212080" cy="20574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17220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6309360" y="1444752"/>
            <a:ext cx="1645920" cy="3200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7" name="Image 1" descr="d:\fyp\FYP COMPLETE\ppt_images\char_de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08760"/>
            <a:ext cx="5212080" cy="20574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5720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5"/>
          <p:cNvSpPr/>
          <p:nvPr/>
        </p:nvSpPr>
        <p:spPr>
          <a:xfrm>
            <a:off x="594360" y="3959352"/>
            <a:ext cx="1645920" cy="3200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0" name="Image 2" descr="d:\fyp\FYP COMPLETE\ppt_images\char_det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023360"/>
            <a:ext cx="5212080" cy="20574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17220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7"/>
          <p:cNvSpPr/>
          <p:nvPr/>
        </p:nvSpPr>
        <p:spPr>
          <a:xfrm>
            <a:off x="6309360" y="3959352"/>
            <a:ext cx="1645920" cy="3200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3" name="Image 3" descr="d:\fyp\FYP COMPLETE\ppt_images\char_det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023360"/>
            <a:ext cx="5212080" cy="20574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57200" y="6355080"/>
            <a:ext cx="11338560" cy="365760"/>
          </a:xfrm>
          <a:prstGeom prst="roundRect">
            <a:avLst>
              <a:gd name="adj" fmla="val 25000"/>
            </a:avLst>
          </a:prstGeom>
          <a:solidFill>
            <a:srgbClr val="1C3044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results show robust character localization for different plate layouts, fonts, and province styles (Punjab / Sindh).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Module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Rain Removal — currently implemented conditions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5623560" cy="3200400"/>
          </a:xfrm>
          <a:prstGeom prst="roundRect">
            <a:avLst>
              <a:gd name="adj" fmla="val 2857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5623560" cy="3657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94360" y="1508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REMOVAL — Dark Channel Prior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1920240"/>
            <a:ext cx="5212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dark channel (patch=13)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atmospheric light (top 0.1%)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Transmission: t = 1 − 0.95 × DC(I/A)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Image Filter refinement (r=50)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haze pass on foggy regions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Gray-world white balance + CLAHE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5623560" cy="3200400"/>
          </a:xfrm>
          <a:prstGeom prst="roundRect">
            <a:avLst>
              <a:gd name="adj" fmla="val 2857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562356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6446520" y="1508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REMOVAL — Vertical Median Filter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1920240"/>
            <a:ext cx="5212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protection mask for text/plate regions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filter + Canny + density threshold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progressive V-median passes (k:15→11→7)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filtered output, protecting text areas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spot detection (area 2-250 px)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Inpaint via Telea algorithm (radius=3)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11430000" cy="594360"/>
          </a:xfrm>
          <a:prstGeom prst="roundRect">
            <a:avLst>
              <a:gd name="adj" fmla="val 15385"/>
            </a:avLst>
          </a:prstGeom>
          <a:solidFill>
            <a:srgbClr val="1C3044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502920" y="4892040"/>
            <a:ext cx="45720" cy="32004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731520" y="4846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is currently implemented for Fog and Rain conditions only.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Visual Results — Fog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vs after fog removal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1700784" cy="32004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FOGGY IMAGES</a:t>
            </a:r>
            <a:endParaRPr lang="en-US" sz="1400" dirty="0"/>
          </a:p>
        </p:txBody>
      </p:sp>
      <p:pic>
        <p:nvPicPr>
          <p:cNvPr id="15" name="Image 0" descr="d:\fyp\FYP COMPLETE\ppt_images\pre_fog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5394960" cy="44805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172200" y="137160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6309360" y="1444752"/>
            <a:ext cx="1700784" cy="3200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6355080" y="1463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FOG REMOVAL (PREPROCESSED)</a:t>
            </a:r>
            <a:endParaRPr lang="en-US" sz="1400" dirty="0"/>
          </a:p>
        </p:txBody>
      </p:sp>
      <p:pic>
        <p:nvPicPr>
          <p:cNvPr id="19" name="Image 1" descr="d:\fyp\FYP COMPLETE\ppt_images\pre_fog_proces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37360"/>
            <a:ext cx="53949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Visual Results — Rain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vs after rain removal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1700784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RAINY IMAGES</a:t>
            </a:r>
            <a:endParaRPr lang="en-US" sz="1400" dirty="0"/>
          </a:p>
        </p:txBody>
      </p:sp>
      <p:pic>
        <p:nvPicPr>
          <p:cNvPr id="15" name="Image 0" descr="d:\fyp\FYP COMPLETE\ppt_images\pre_rain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5394960" cy="44805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172200" y="137160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6309360" y="1444752"/>
            <a:ext cx="1700784" cy="3200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6355080" y="14630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RAIN REMOVAL (PREPROCESSED)</a:t>
            </a:r>
            <a:endParaRPr lang="en-US" sz="1400" dirty="0"/>
          </a:p>
        </p:txBody>
      </p:sp>
      <p:pic>
        <p:nvPicPr>
          <p:cNvPr id="19" name="Image 1" descr="d:\fyp\FYP COMPLETE\ppt_images\pre_rain_proces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37360"/>
            <a:ext cx="53949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— Visual Results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outputs after fog/rain preprocessing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11484864" cy="5120640"/>
          </a:xfrm>
          <a:prstGeom prst="roundRect">
            <a:avLst>
              <a:gd name="adj" fmla="val 1786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1700784" cy="3200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39" y="1463040"/>
            <a:ext cx="826352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FOG REMOVAL — COMPLETE PIPELINE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52703E6-6D81-59FD-678E-93C1F01F8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69364"/>
            <a:ext cx="11229422" cy="46743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EE97C-99D0-6DBB-B95C-0F6EE167A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06433A-BFE4-2A22-5100-27A80383AA44}"/>
              </a:ext>
            </a:extLst>
          </p:cNvPr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1F5C524-5222-F68A-5E5A-A6E2E88FC78A}"/>
              </a:ext>
            </a:extLst>
          </p:cNvPr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5147C90-7954-6C79-C8B7-4D85966F2EF7}"/>
              </a:ext>
            </a:extLst>
          </p:cNvPr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47CCFB7-32ED-474E-CF15-59DF55DDECD8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60D0D56-E5F2-6538-F392-F57B421E48EB}"/>
              </a:ext>
            </a:extLst>
          </p:cNvPr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3193E56-94F9-2A6F-36DE-3EE77256F919}"/>
              </a:ext>
            </a:extLst>
          </p:cNvPr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54A932A-F84E-BDB6-7359-9F8CD76CDE64}"/>
              </a:ext>
            </a:extLst>
          </p:cNvPr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— Visual Results</a:t>
            </a: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D44ED0C-2733-D40B-EA05-F23BCFCAC5D3}"/>
              </a:ext>
            </a:extLst>
          </p:cNvPr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outputs after fog/rain preprocessing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A29B031-BA98-B732-AF6C-C9B9F96C15B1}"/>
              </a:ext>
            </a:extLst>
          </p:cNvPr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466DE88-C549-01A0-B4A2-6F04B3C58E89}"/>
              </a:ext>
            </a:extLst>
          </p:cNvPr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34</a:t>
            </a:r>
            <a:endParaRPr lang="en-US" sz="8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22AEA9E2-7065-CE1A-5188-8FBFD40D4C35}"/>
              </a:ext>
            </a:extLst>
          </p:cNvPr>
          <p:cNvSpPr/>
          <p:nvPr/>
        </p:nvSpPr>
        <p:spPr>
          <a:xfrm>
            <a:off x="341376" y="1371600"/>
            <a:ext cx="11500104" cy="5120640"/>
          </a:xfrm>
          <a:prstGeom prst="roundRect">
            <a:avLst>
              <a:gd name="adj" fmla="val 1786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384AE15-F511-49B0-EDD1-D11DE2E44B50}"/>
              </a:ext>
            </a:extLst>
          </p:cNvPr>
          <p:cNvSpPr/>
          <p:nvPr/>
        </p:nvSpPr>
        <p:spPr>
          <a:xfrm>
            <a:off x="4560113" y="1444752"/>
            <a:ext cx="3450031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25C5C2A-5198-95D8-55E3-0E0D355FBE69}"/>
              </a:ext>
            </a:extLst>
          </p:cNvPr>
          <p:cNvSpPr/>
          <p:nvPr/>
        </p:nvSpPr>
        <p:spPr>
          <a:xfrm>
            <a:off x="994484" y="1463040"/>
            <a:ext cx="105726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RAIN REMOVAL — COMPLETE PIPELINE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5B6B85A-B643-D4A0-6206-CC8177F79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71" y="1728216"/>
            <a:ext cx="11135032" cy="467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15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 Status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completion overview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40080" y="138988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Dataset (245 classes, ~57K images)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141732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8869680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801368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40080" y="181965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Training (Top-1: 96.24%, Top-5: 99.39%)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9680" y="184708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8869680" y="18470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231136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40080" y="224942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 Training (mAP@50: 98.07%)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2276856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8869680" y="22768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660904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640080" y="267919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Recognition Training (mAP@50: 98.07%)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69680" y="2706624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8869680" y="27066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090672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40080" y="310896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Removal Preprocessing (DCP)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69680" y="31363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8869680" y="31363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640080" y="353872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Removal Preprocessing (Vertical Median)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69680" y="3566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8869680" y="3566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950208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640080" y="396849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Integration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869680" y="399592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8869680" y="3995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379976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640080" y="439826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Testing — Fog (10/10) &amp; Rain (8/8)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869680" y="4425696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8869680" y="44256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809744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640080" y="482803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(React + Express)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69680" y="4855464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8869680" y="48554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5239512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640080" y="525780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Pi 5 Deployment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69680" y="528523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8869680" y="52852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5669280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640080" y="568756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Weather (snow, glare, night)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69680" y="57150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5" name="Text 53"/>
          <p:cNvSpPr/>
          <p:nvPr/>
        </p:nvSpPr>
        <p:spPr>
          <a:xfrm>
            <a:off x="8869680" y="5715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6099048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7" name="Text 55"/>
          <p:cNvSpPr/>
          <p:nvPr/>
        </p:nvSpPr>
        <p:spPr>
          <a:xfrm>
            <a:off x="640080" y="611733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 Stream Processing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69680" y="614476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9" name="Text 57"/>
          <p:cNvSpPr/>
          <p:nvPr/>
        </p:nvSpPr>
        <p:spPr>
          <a:xfrm>
            <a:off x="8869680" y="6144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and next steps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315718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65760" y="2315718"/>
            <a:ext cx="3566160" cy="457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548640" y="2544318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548640" y="254431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54431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Preprocessing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8640" y="3138677"/>
            <a:ext cx="2514600" cy="45719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48640" y="327583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glare handling, nighttime / low-light enhancement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8046720" y="2315718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8046720" y="2315718"/>
            <a:ext cx="356616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8229600" y="254431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8229600" y="254431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823960" y="254431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 flipV="1">
            <a:off x="8229600" y="3092958"/>
            <a:ext cx="2212258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8229600" y="327583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Pi 5 (8GB) with gate USB camera integration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224528" y="2311146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8" name="Shape 46"/>
          <p:cNvSpPr/>
          <p:nvPr/>
        </p:nvSpPr>
        <p:spPr>
          <a:xfrm>
            <a:off x="4224528" y="2311146"/>
            <a:ext cx="3566160" cy="4572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4407408" y="2539746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4407408" y="253974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5001768" y="253974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Enhancements</a:t>
            </a:r>
            <a:endParaRPr lang="en-US" dirty="0"/>
          </a:p>
        </p:txBody>
      </p:sp>
      <p:sp>
        <p:nvSpPr>
          <p:cNvPr id="52" name="Shape 50"/>
          <p:cNvSpPr/>
          <p:nvPr/>
        </p:nvSpPr>
        <p:spPr>
          <a:xfrm flipV="1">
            <a:off x="4407408" y="3088386"/>
            <a:ext cx="2878590" cy="4572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4407408" y="3271266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camera integration, push notifications, analytics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914400"/>
            <a:ext cx="4572000" cy="457200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5257800" y="1600200"/>
            <a:ext cx="3200400" cy="320040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-434340" y="4137660"/>
            <a:ext cx="2240280" cy="22402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9144000" y="4572000"/>
            <a:ext cx="2743200" cy="27432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9555480" y="4983480"/>
            <a:ext cx="1920240" cy="192024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0" y="164592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2743200" cy="36576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0" y="34747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00400" y="4358886"/>
            <a:ext cx="5788152" cy="1188720"/>
          </a:xfrm>
          <a:prstGeom prst="roundRect">
            <a:avLst>
              <a:gd name="adj" fmla="val 7692"/>
            </a:avLst>
          </a:prstGeom>
          <a:solidFill>
            <a:srgbClr val="162536"/>
          </a:solidFill>
          <a:ln w="19050">
            <a:solidFill>
              <a:srgbClr val="2A4A6B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3200400" y="470916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All-Weather Smart Vehicle Gate Recognition System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521208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2236</Words>
  <Application>Microsoft Office PowerPoint</Application>
  <PresentationFormat>Widescreen</PresentationFormat>
  <Paragraphs>596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Inconsolata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All-Weather Smart Vehicle Gate Recognition System</dc:title>
  <dc:subject>PptxGenJS Presentation</dc:subject>
  <dc:creator>Abdul Hadi</dc:creator>
  <cp:lastModifiedBy>FA22-BCE-102 (ALI RAZA CHAUDHRY)</cp:lastModifiedBy>
  <cp:revision>6</cp:revision>
  <dcterms:created xsi:type="dcterms:W3CDTF">2026-03-26T19:33:11Z</dcterms:created>
  <dcterms:modified xsi:type="dcterms:W3CDTF">2026-03-27T04:11:50Z</dcterms:modified>
</cp:coreProperties>
</file>